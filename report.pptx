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Bill Amt</c:v>
                </c:pt>
              </c:strCache>
            </c:strRef>
          </c:tx>
          <c:dPt>
            <c:idx val="0"/>
            <c:spPr>
              <a:solidFill>
                <a:srgbClr val="2563EB"/>
              </a:solidFill>
            </c:spPr>
          </c:dPt>
          <c:dPt>
            <c:idx val="1"/>
            <c:spPr>
              <a:solidFill>
                <a:srgbClr val="F97316"/>
              </a:solidFill>
            </c:spPr>
          </c:dPt>
          <c:dPt>
            <c:idx val="2"/>
            <c:spPr>
              <a:solidFill>
                <a:srgbClr val="16A34A"/>
              </a:solidFill>
            </c:spPr>
          </c:dPt>
          <c:dPt>
            <c:idx val="3"/>
            <c:spPr>
              <a:solidFill>
                <a:srgbClr val="EF4444"/>
              </a:solidFill>
            </c:spPr>
          </c:dPt>
          <c:dPt>
            <c:idx val="4"/>
            <c:spPr>
              <a:solidFill>
                <a:srgbClr val="8B5CF6"/>
              </a:solidFill>
            </c:spPr>
          </c:dPt>
          <c:dPt>
            <c:idx val="5"/>
            <c:spPr>
              <a:solidFill>
                <a:srgbClr val="EC4899"/>
              </a:solidFill>
            </c:spPr>
          </c:dPt>
          <c:cat>
            <c:strRef>
              <c:f>Sheet1!$A$2:$A$7</c:f>
              <c:strCache>
                <c:ptCount val="6"/>
                <c:pt idx="0">
                  <c:v>ABUJA</c:v>
                </c:pt>
                <c:pt idx="1">
                  <c:v>LAGOS</c:v>
                </c:pt>
                <c:pt idx="2">
                  <c:v>KANO</c:v>
                </c:pt>
                <c:pt idx="3">
                  <c:v>YOLA</c:v>
                </c:pt>
                <c:pt idx="4">
                  <c:v>MAIDUGURI</c:v>
                </c:pt>
                <c:pt idx="5">
                  <c:v>JALINGO</c:v>
                </c:pt>
              </c:strCache>
            </c:strRef>
          </c:cat>
          <c:val>
            <c:numRef>
              <c:f>Sheet1!$B$2:$B$7</c:f>
              <c:numCache>
                <c:formatCode>General</c:formatCode>
                <c:ptCount val="6"/>
                <c:pt idx="0">
                  <c:v>330932447.0</c:v>
                </c:pt>
                <c:pt idx="1">
                  <c:v>84788759.0</c:v>
                </c:pt>
                <c:pt idx="2">
                  <c:v>56924478.0</c:v>
                </c:pt>
                <c:pt idx="3">
                  <c:v>15751350.0</c:v>
                </c:pt>
                <c:pt idx="4">
                  <c:v>11838740.0</c:v>
                </c:pt>
                <c:pt idx="5">
                  <c:v>7835114.0</c:v>
                </c:pt>
              </c:numCache>
            </c:numRef>
          </c:val>
        </c:ser>
        <c:dLbls>
          <c:numFmt formatCode="₦#,##0" sourceLinked="0"/>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Bill Amt</c:v>
                </c:pt>
              </c:strCache>
            </c:strRef>
          </c:tx>
          <c:dPt>
            <c:idx val="0"/>
            <c:spPr>
              <a:solidFill>
                <a:srgbClr val="2563EB"/>
              </a:solidFill>
            </c:spPr>
          </c:dPt>
          <c:dPt>
            <c:idx val="1"/>
            <c:spPr>
              <a:solidFill>
                <a:srgbClr val="F97316"/>
              </a:solidFill>
            </c:spPr>
          </c:dPt>
          <c:dPt>
            <c:idx val="2"/>
            <c:spPr>
              <a:solidFill>
                <a:srgbClr val="16A34A"/>
              </a:solidFill>
            </c:spPr>
          </c:dPt>
          <c:dPt>
            <c:idx val="3"/>
            <c:spPr>
              <a:solidFill>
                <a:srgbClr val="EF4444"/>
              </a:solidFill>
            </c:spPr>
          </c:dPt>
          <c:dPt>
            <c:idx val="4"/>
            <c:spPr>
              <a:solidFill>
                <a:srgbClr val="8B5CF6"/>
              </a:solidFill>
            </c:spPr>
          </c:dPt>
          <c:dPt>
            <c:idx val="5"/>
            <c:spPr>
              <a:solidFill>
                <a:srgbClr val="EC4899"/>
              </a:solidFill>
            </c:spPr>
          </c:dPt>
          <c:cat>
            <c:strRef>
              <c:f>Sheet1!$A$2:$A$7</c:f>
              <c:strCache>
                <c:ptCount val="6"/>
                <c:pt idx="0">
                  <c:v>PUBLIC NOTICE</c:v>
                </c:pt>
                <c:pt idx="1">
                  <c:v>SPECIAL PROJECT</c:v>
                </c:pt>
                <c:pt idx="2">
                  <c:v>DISPLAY</c:v>
                </c:pt>
                <c:pt idx="3">
                  <c:v>APPOINTMENT</c:v>
                </c:pt>
                <c:pt idx="4">
                  <c:v>TENDER</c:v>
                </c:pt>
                <c:pt idx="5">
                  <c:v>ADVERTORIAL</c:v>
                </c:pt>
              </c:strCache>
            </c:strRef>
          </c:cat>
          <c:val>
            <c:numRef>
              <c:f>Sheet1!$B$2:$B$7</c:f>
              <c:numCache>
                <c:formatCode>General</c:formatCode>
                <c:ptCount val="6"/>
                <c:pt idx="0">
                  <c:v>246772020.0</c:v>
                </c:pt>
                <c:pt idx="1">
                  <c:v>99554949.0</c:v>
                </c:pt>
                <c:pt idx="2">
                  <c:v>51789450.0</c:v>
                </c:pt>
                <c:pt idx="3">
                  <c:v>41676525.0</c:v>
                </c:pt>
                <c:pt idx="4">
                  <c:v>35439600.0</c:v>
                </c:pt>
                <c:pt idx="5">
                  <c:v>32838344.0</c:v>
                </c:pt>
              </c:numCache>
            </c:numRef>
          </c:val>
        </c:ser>
        <c:dLbls>
          <c:numFmt formatCode="₦#,##0" sourceLinked="0"/>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Bill Amt</c:v>
                </c:pt>
              </c:strCache>
            </c:strRef>
          </c:tx>
          <c:spPr>
            <a:ln w="31750">
              <a:solidFill>
                <a:srgbClr val="2563EB"/>
              </a:solidFill>
            </a:ln>
          </c:spPr>
          <c:marker>
            <c:spPr>
              <a:solidFill>
                <a:srgbClr val="2563EB"/>
              </a:solidFill>
            </c:spPr>
          </c:marker>
          <c:cat>
            <c:strRef>
              <c:f>Sheet1!$A$2:$A$4</c:f>
              <c:strCache>
                <c:ptCount val="3"/>
                <c:pt idx="0">
                  <c:v>October</c:v>
                </c:pt>
                <c:pt idx="1">
                  <c:v>November</c:v>
                </c:pt>
                <c:pt idx="2">
                  <c:v>December</c:v>
                </c:pt>
              </c:strCache>
            </c:strRef>
          </c:cat>
          <c:val>
            <c:numRef>
              <c:f>Sheet1!$B$2:$B$4</c:f>
              <c:numCache>
                <c:formatCode>General</c:formatCode>
                <c:ptCount val="3"/>
                <c:pt idx="0">
                  <c:v>174997094.74</c:v>
                </c:pt>
                <c:pt idx="1">
                  <c:v>165801327.75</c:v>
                </c:pt>
                <c:pt idx="2">
                  <c:v>166955429.98</c:v>
                </c:pt>
              </c:numCache>
            </c:numRef>
          </c:val>
          <c:smooth val="0"/>
        </c:ser>
        <c:dLbls>
          <c:numFmt formatCode="₦#,##0" sourceLinked="0"/>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0"/>
    <c:plotArea>
      <c:pieChart>
        <c:varyColors/>
        <c:ser>
          <c:idx val="0"/>
          <c:order val="0"/>
          <c:tx>
            <c:strRef>
              <c:f>Sheet1!$B$1</c:f>
              <c:strCache>
                <c:ptCount val="1"/>
                <c:pt idx="0">
                  <c:v>Bill Amt</c:v>
                </c:pt>
              </c:strCache>
            </c:strRef>
          </c:tx>
          <c:dPt>
            <c:idx val="0"/>
            <c:spPr>
              <a:solidFill>
                <a:srgbClr val="2563EB"/>
              </a:solidFill>
            </c:spPr>
          </c:dPt>
          <c:dPt>
            <c:idx val="1"/>
            <c:spPr>
              <a:solidFill>
                <a:srgbClr val="F97316"/>
              </a:solidFill>
            </c:spPr>
          </c:dPt>
          <c:dPt>
            <c:idx val="2"/>
            <c:spPr>
              <a:solidFill>
                <a:srgbClr val="16A34A"/>
              </a:solidFill>
            </c:spPr>
          </c:dPt>
          <c:dPt>
            <c:idx val="3"/>
            <c:spPr>
              <a:solidFill>
                <a:srgbClr val="EF4444"/>
              </a:solidFill>
            </c:spPr>
          </c:dPt>
          <c:cat>
            <c:strRef>
              <c:f>Sheet1!$A$2:$A$5</c:f>
              <c:strCache>
                <c:ptCount val="4"/>
                <c:pt idx="0">
                  <c:v>PRE PAID</c:v>
                </c:pt>
                <c:pt idx="1">
                  <c:v>CREDIT</c:v>
                </c:pt>
                <c:pt idx="2">
                  <c:v>ADVANCE</c:v>
                </c:pt>
                <c:pt idx="3">
                  <c:v>CASH</c:v>
                </c:pt>
              </c:strCache>
            </c:strRef>
          </c:cat>
          <c:val>
            <c:numRef>
              <c:f>Sheet1!$B$2:$B$5</c:f>
              <c:numCache>
                <c:formatCode>General</c:formatCode>
                <c:ptCount val="4"/>
                <c:pt idx="0">
                  <c:v>67.8</c:v>
                </c:pt>
                <c:pt idx="1">
                  <c:v>19.2</c:v>
                </c:pt>
                <c:pt idx="2">
                  <c:v>8.9</c:v>
                </c:pt>
                <c:pt idx="3">
                  <c:v>4.1</c:v>
                </c:pt>
              </c:numCache>
            </c:numRef>
          </c:val>
        </c:ser>
        <c:dLbls>
          <c:numFmt formatCode="0.0%" sourceLinked="0"/>
          <c:showLegendKey val="0"/>
          <c:showVal val="0"/>
          <c:showCatName val="1"/>
          <c:showSerName val="0"/>
          <c:showPercent val="1"/>
          <c:showBubbleSize val="0"/>
          <c:showLeaderLines val="1"/>
        </c:dLbls>
      </c:pieChart>
    </c:plotArea>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2286000"/>
            <a:ext cx="10972800" cy="1097280"/>
          </a:xfrm>
        </p:spPr>
        <p:txBody>
          <a:bodyPr/>
          <a:lstStyle/>
          <a:p>
            <a:r>
              <a:rPr sz="4000" b="1"/>
              <a:t>AI Data Analysis Report</a:t>
            </a:r>
          </a:p>
        </p:txBody>
      </p:sp>
      <p:sp>
        <p:nvSpPr>
          <p:cNvPr id="3" name="Subtitle 2"/>
          <p:cNvSpPr>
            <a:spLocks noGrp="1"/>
          </p:cNvSpPr>
          <p:nvPr>
            <p:ph type="subTitle" idx="1"/>
          </p:nvPr>
        </p:nvSpPr>
        <p:spPr>
          <a:xfrm>
            <a:off x="457200" y="3566160"/>
            <a:ext cx="10972800" cy="731520"/>
          </a:xfrm>
        </p:spPr>
        <p:txBody>
          <a:bodyPr/>
          <a:lstStyle/>
          <a:p>
            <a:r>
              <a:rPr sz="2400"/>
              <a:t>Daily Trust Advertising Revenue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0972800" cy="822960"/>
          </a:xfrm>
        </p:spPr>
        <p:txBody>
          <a:bodyPr/>
          <a:lstStyle/>
          <a:p>
            <a:r>
              <a:rPr sz="3200" b="1"/>
              <a:t>Analysis Answer</a:t>
            </a:r>
          </a:p>
        </p:txBody>
      </p:sp>
      <p:sp>
        <p:nvSpPr>
          <p:cNvPr id="3" name="Content Placeholder 2"/>
          <p:cNvSpPr>
            <a:spLocks noGrp="1"/>
          </p:cNvSpPr>
          <p:nvPr>
            <p:ph idx="1"/>
          </p:nvPr>
        </p:nvSpPr>
        <p:spPr>
          <a:xfrm>
            <a:off x="457200" y="1280160"/>
            <a:ext cx="11247120" cy="5120640"/>
          </a:xfrm>
        </p:spPr>
        <p:txBody>
          <a:bodyPr wrap="square">
            <a:normAutofit/>
          </a:bodyPr>
          <a:lstStyle/>
          <a:p>
            <a:r>
              <a:rPr sz="1800" b="0"/>
              <a:t>This dataset contains 1,386 newspaper advertising records from Daily Trust, spanning October to December 2023. The data reveals advertising booking patterns, revenue distribution, and client behavior across different Nigerian locations. Key insights include revenue concentration in major cities, seasonal advertising trends, and the dominance of certain ad categories like Public Notice ads.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74320"/>
            <a:ext cx="10972800" cy="822960"/>
          </a:xfrm>
        </p:spPr>
        <p:txBody>
          <a:bodyPr/>
          <a:lstStyle/>
          <a:p>
            <a:r>
              <a:rPr sz="3200" b="1"/>
              <a:t>Key Findings</a:t>
            </a:r>
          </a:p>
        </p:txBody>
      </p:sp>
      <p:sp>
        <p:nvSpPr>
          <p:cNvPr id="3" name="Content Placeholder 2"/>
          <p:cNvSpPr>
            <a:spLocks noGrp="1"/>
          </p:cNvSpPr>
          <p:nvPr>
            <p:ph idx="1"/>
          </p:nvPr>
        </p:nvSpPr>
        <p:spPr>
          <a:xfrm>
            <a:off x="457200" y="1280160"/>
            <a:ext cx="11247120" cy="5120640"/>
          </a:xfrm>
        </p:spPr>
        <p:txBody>
          <a:bodyPr wrap="square">
            <a:normAutofit/>
          </a:bodyPr>
          <a:lstStyle/>
          <a:p>
            <a:pPr/>
            <a:r>
              <a:rPr sz="1800"/>
              <a:t>Total revenue generated: ₦507,753,852</a:t>
            </a:r>
          </a:p>
          <a:p>
            <a:pPr/>
            <a:r>
              <a:rPr sz="1800"/>
              <a:t>ABUJA leads all booking centers with ₦315,341,396 in revenue</a:t>
            </a:r>
          </a:p>
          <a:p>
            <a:pPr/>
            <a:r>
              <a:rPr sz="1800"/>
              <a:t>PUBLIC NOTICE is the dominant ad category with ₦321,913,960 in revenue</a:t>
            </a:r>
          </a:p>
          <a:p>
            <a:pPr/>
            <a:r>
              <a:rPr sz="1800"/>
              <a:t>Average discount rate is 21.2% across all bookings</a:t>
            </a:r>
          </a:p>
          <a:p>
            <a:pPr/>
            <a:r>
              <a:rPr sz="1800"/>
              <a:t>October had the highest monthly revenue at ₦174,997,095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r>
              <a:rPr sz="2800" b="1"/>
              <a:t>Revenue by Booking Center</a:t>
            </a:r>
          </a:p>
        </p:txBody>
      </p:sp>
      <p:graphicFrame>
        <p:nvGraphicFramePr>
          <p:cNvPr id="3" name="Chart 2"/>
          <p:cNvGraphicFramePr>
            <a:graphicFrameLocks noGrp="1"/>
          </p:cNvGraphicFramePr>
          <p:nvPr/>
        </p:nvGraphicFramePr>
        <p:xfrm>
          <a:off x="457200" y="1005840"/>
          <a:ext cx="11247120" cy="539496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r>
              <a:rPr sz="2800" b="1"/>
              <a:t>Revenue by Ad Category</a:t>
            </a:r>
          </a:p>
        </p:txBody>
      </p:sp>
      <p:graphicFrame>
        <p:nvGraphicFramePr>
          <p:cNvPr id="3" name="Chart 2"/>
          <p:cNvGraphicFramePr>
            <a:graphicFrameLocks noGrp="1"/>
          </p:cNvGraphicFramePr>
          <p:nvPr/>
        </p:nvGraphicFramePr>
        <p:xfrm>
          <a:off x="457200" y="1005840"/>
          <a:ext cx="11247120" cy="539496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r>
              <a:rPr sz="2800" b="1"/>
              <a:t>Monthly Revenue Trend</a:t>
            </a:r>
          </a:p>
        </p:txBody>
      </p:sp>
      <p:graphicFrame>
        <p:nvGraphicFramePr>
          <p:cNvPr id="3" name="Chart 2"/>
          <p:cNvGraphicFramePr>
            <a:graphicFrameLocks noGrp="1"/>
          </p:cNvGraphicFramePr>
          <p:nvPr/>
        </p:nvGraphicFramePr>
        <p:xfrm>
          <a:off x="457200" y="1005840"/>
          <a:ext cx="11247120" cy="539496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r>
              <a:rPr sz="2800" b="1"/>
              <a:t>Payment Terms Distribution</a:t>
            </a:r>
          </a:p>
        </p:txBody>
      </p:sp>
      <p:graphicFrame>
        <p:nvGraphicFramePr>
          <p:cNvPr id="3" name="Chart 2"/>
          <p:cNvGraphicFramePr>
            <a:graphicFrameLocks noGrp="1"/>
          </p:cNvGraphicFramePr>
          <p:nvPr/>
        </p:nvGraphicFramePr>
        <p:xfrm>
          <a:off x="457200" y="1005840"/>
          <a:ext cx="11247120" cy="539496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