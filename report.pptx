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Bill Amt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ABUJA</c:v>
                </c:pt>
                <c:pt idx="1">
                  <c:v>LAGOS</c:v>
                </c:pt>
                <c:pt idx="2">
                  <c:v>YOLA</c:v>
                </c:pt>
                <c:pt idx="3">
                  <c:v>KANO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362518542.0</c:v>
                </c:pt>
                <c:pt idx="1">
                  <c:v>115684817.0</c:v>
                </c:pt>
                <c:pt idx="2">
                  <c:v>26737000.0</c:v>
                </c:pt>
                <c:pt idx="3">
                  <c:v>3000000.0</c:v>
                </c:pt>
              </c:numCache>
            </c:numRef>
          </c:val>
        </c:ser>
        <c:dLbls>
          <c:numFmt formatCode="$#,##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Bookings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ABUJA</c:v>
                </c:pt>
                <c:pt idx="1">
                  <c:v>LAGOS</c:v>
                </c:pt>
                <c:pt idx="2">
                  <c:v>YOLA</c:v>
                </c:pt>
                <c:pt idx="3">
                  <c:v>KANO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75.7</c:v>
                </c:pt>
                <c:pt idx="1">
                  <c:v>19.3</c:v>
                </c:pt>
                <c:pt idx="2">
                  <c:v>4.6</c:v>
                </c:pt>
                <c:pt idx="3">
                  <c:v>0.4</c:v>
                </c:pt>
              </c:numCache>
            </c:numRef>
          </c:val>
        </c:ser>
        <c:dLbls>
          <c:numFmt formatCode="0.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AdCat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PUBLIC NOTICE</c:v>
                </c:pt>
                <c:pt idx="1">
                  <c:v>SPECIAL PROJECT</c:v>
                </c:pt>
                <c:pt idx="2">
                  <c:v>CONGRATULATORY</c:v>
                </c:pt>
                <c:pt idx="3">
                  <c:v>OBITUARY</c:v>
                </c:pt>
                <c:pt idx="4">
                  <c:v>TENDER NOTICE</c:v>
                </c:pt>
                <c:pt idx="5">
                  <c:v>CORPORATE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680.0</c:v>
                </c:pt>
                <c:pt idx="1">
                  <c:v>235.0</c:v>
                </c:pt>
                <c:pt idx="2">
                  <c:v>144.0</c:v>
                </c:pt>
                <c:pt idx="3">
                  <c:v>131.0</c:v>
                </c:pt>
                <c:pt idx="4">
                  <c:v>79.0</c:v>
                </c:pt>
                <c:pt idx="5">
                  <c:v>70.0</c:v>
                </c:pt>
              </c:numCache>
            </c:numRef>
          </c:val>
        </c:ser>
        <c:dLbls>
          <c:numFmt formatCode="#,##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Bill Amt</c:v>
                </c:pt>
              </c:strCache>
            </c:strRef>
          </c:tx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2023-10</c:v>
                </c:pt>
                <c:pt idx="1">
                  <c:v>2023-11</c:v>
                </c:pt>
                <c:pt idx="2">
                  <c:v>2023-12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174997094.74</c:v>
                </c:pt>
                <c:pt idx="1">
                  <c:v>165801327.75</c:v>
                </c:pt>
                <c:pt idx="2">
                  <c:v>166955429.98</c:v>
                </c:pt>
              </c:numCache>
            </c:numRef>
          </c:val>
          <c:smooth val="0"/>
        </c:ser>
        <c:dLbls>
          <c:numFmt formatCode="$#,##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286000"/>
            <a:ext cx="10972800" cy="1097280"/>
          </a:xfrm>
        </p:spPr>
        <p:txBody>
          <a:bodyPr/>
          <a:lstStyle/>
          <a:p>
            <a:r>
              <a:rPr sz="4000" b="1"/>
              <a:t>AI Data Analysis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66160"/>
            <a:ext cx="10972800" cy="731520"/>
          </a:xfrm>
        </p:spPr>
        <p:txBody>
          <a:bodyPr/>
          <a:lstStyle/>
          <a:p>
            <a:r>
              <a:rPr sz="2400"/>
              <a:t>Daily Trust Advertising Analytics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0972800" cy="822960"/>
          </a:xfrm>
        </p:spPr>
        <p:txBody>
          <a:bodyPr/>
          <a:lstStyle/>
          <a:p>
            <a:r>
              <a:rPr sz="3200" b="1"/>
              <a:t>Analysis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47120" cy="5120640"/>
          </a:xfrm>
        </p:spPr>
        <p:txBody>
          <a:bodyPr wrap="square">
            <a:normAutofit/>
          </a:bodyPr>
          <a:lstStyle/>
          <a:p>
            <a:r>
              <a:rPr sz="1800" b="0"/>
              <a:t>This dataset contains 1,386 advertising booking records from Daily Trust newspaper across multiple locations in Nigeria from October to December 2023. The data shows a total revenue of ₦507.9 million with ABUJA being the dominant booking center handling 75.7% of all bookings. The average bill amount per booking is ₦366,609, with significant variations ranging from ₦0 to ₦5.65 million. Most advertisements are in color format (78.8%) and fall under the PUBLIC NOTICE category (49.1%). The business operates primarily on a PRE PAID payment model (82.2%) with an average discount rate of 21.2% applied to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0972800" cy="822960"/>
          </a:xfrm>
        </p:spPr>
        <p:txBody>
          <a:bodyPr/>
          <a:lstStyle/>
          <a:p>
            <a:r>
              <a:rPr sz="3200" b="1"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47120" cy="5120640"/>
          </a:xfrm>
        </p:spPr>
        <p:txBody>
          <a:bodyPr wrap="square">
            <a:normAutofit/>
          </a:bodyPr>
          <a:lstStyle/>
          <a:p>
            <a:pPr/>
            <a:r>
              <a:rPr sz="1800"/>
              <a:t>ABUJA dominates with 907 bookings (65.4% of total)</a:t>
            </a:r>
          </a:p>
          <a:p>
            <a:pPr/>
            <a:r>
              <a:rPr sz="1800"/>
              <a:t>Total revenue across all centers: ₦507,753,852</a:t>
            </a:r>
          </a:p>
          <a:p>
            <a:pPr/>
            <a:r>
              <a:rPr sz="1800"/>
              <a:t>Average discount rate applied: 21.2%</a:t>
            </a:r>
          </a:p>
          <a:p>
            <a:pPr/>
            <a:r>
              <a:rPr sz="1800"/>
              <a:t>COLOR ads represent 64.4% of all bookings</a:t>
            </a:r>
          </a:p>
          <a:p>
            <a:pPr/>
            <a:r>
              <a:rPr sz="1800"/>
              <a:t>PUBLIC NOTICE is the top ad category with 70.1% share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Revenue by Booking Center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1124712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Bookings Distribution by Center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1124712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Top Advertisement Categories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1124712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Monthly Revenue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1124712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